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ClearSpend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CFBF1"/>
                </a:solidFill>
                <a:latin typeface="Calibri"/>
              </a:defRPr>
            </a:pPr>
            <a:r>
              <a:t>Autonomous AI-Powered Expense Tracking</a:t>
            </a:r>
            <a:br/>
            <a:r>
              <a:t>&amp; Financial Coach for India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06240"/>
            <a:ext cx="1097280" cy="457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FBF1"/>
                </a:solidFill>
                <a:latin typeface="Calibri"/>
              </a:defRPr>
            </a:pPr>
            <a:r>
              <a:t>Built with React 18 · TypeScript · Supabase · Gemini AI</a:t>
            </a:r>
            <a:br/>
            <a:r>
              <a:t>clearspend-ai-expense-tracker.vercel.app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766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1717A"/>
                </a:solidFill>
                <a:latin typeface="Calibri"/>
              </a:defRPr>
            </a:pPr>
            <a:r>
              <a:t>Why 73% of Indians abandon expense trackers within 2 weeks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640080" cy="64008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8181B"/>
                </a:solidFill>
                <a:latin typeface="Calibri"/>
              </a:defRPr>
            </a:pPr>
            <a:r>
              <a:t>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556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8181B"/>
                </a:solidFill>
                <a:latin typeface="Calibri"/>
              </a:defRPr>
            </a:pPr>
            <a:r>
              <a:t>Too Many Taps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8483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Traditional apps need 6+ taps per transaction — select amount, category, wallet, date, merchant, and confirm.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640080" cy="64008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535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8181B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986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8181B"/>
                </a:solidFill>
                <a:latin typeface="Calibri"/>
              </a:defRPr>
            </a:pPr>
            <a:r>
              <a:t>Zero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2783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They just record data. No pattern recognition, no proactive alerts, no learning from your 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640080" cy="64008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0965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8181B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0416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8181B"/>
                </a:solidFill>
                <a:latin typeface="Calibri"/>
              </a:defRPr>
            </a:pPr>
            <a:r>
              <a:t>Reactive, Not Predictive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7083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You only discover you overspent on food after the month ends. By then, the money is gone.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66360"/>
            <a:ext cx="640080" cy="64008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395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8181B"/>
                </a:solidFill>
                <a:latin typeface="Calibri"/>
              </a:defRPr>
            </a:pPr>
            <a:r>
              <a:t>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846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8181B"/>
                </a:solidFill>
                <a:latin typeface="Calibri"/>
              </a:defRPr>
            </a:pPr>
            <a:r>
              <a:t>Duplicate Chaos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513832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UPI failures cause double-debits. No app catches them — your ledger silently drifts from reality.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766E"/>
                </a:solidFill>
                <a:latin typeface="Calibri"/>
              </a:defRPr>
            </a:pPr>
            <a:r>
              <a:t>The Solution: ClearSpend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1717A"/>
                </a:solidFill>
                <a:latin typeface="Calibri"/>
              </a:defRPr>
            </a:pPr>
            <a:r>
              <a:t>An AI-first financial copilot that thinks like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73152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8181B"/>
                </a:solidFill>
                <a:latin typeface="Calibri"/>
              </a:defRPr>
            </a:pPr>
            <a:r>
              <a:t>Natural Language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A"/>
                </a:solidFill>
                <a:latin typeface="Calibri"/>
              </a:defRPr>
            </a:pPr>
            <a:r>
              <a:t>Type how you think: '380 zomato lunch' — done in 3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73152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44368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8181B"/>
                </a:solidFill>
                <a:latin typeface="Calibri"/>
              </a:defRPr>
            </a:pPr>
            <a:r>
              <a:t>Autonomous AI Parsing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9184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A"/>
                </a:solidFill>
                <a:latin typeface="Calibri"/>
              </a:defRPr>
            </a:pPr>
            <a:r>
              <a:t>Extracts amount (₹380), merchant (Zomato), category (Food), date — with confidence scores.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73152" cy="822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33088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8181B"/>
                </a:solidFill>
                <a:latin typeface="Calibri"/>
              </a:defRPr>
            </a:pPr>
            <a:r>
              <a:t>Self-Learning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056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A"/>
                </a:solidFill>
                <a:latin typeface="Calibri"/>
              </a:defRPr>
            </a:pPr>
            <a:r>
              <a:t>Corrects learn. Change 'Groceries' → 'Supplies' once, and ClearSpend remembers forever.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03520"/>
            <a:ext cx="73152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321808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8181B"/>
                </a:solidFill>
                <a:latin typeface="Calibri"/>
              </a:defRPr>
            </a:pPr>
            <a:r>
              <a:t>Proactive Budget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6928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717A"/>
                </a:solidFill>
                <a:latin typeface="Calibri"/>
              </a:defRPr>
            </a:pPr>
            <a:r>
              <a:t>Daily pace alerts: 'At this pace you'll spend ₹15,000 on Food. Cap ₹300/day.'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766E"/>
                </a:solidFill>
                <a:latin typeface="Calibri"/>
              </a:defRPr>
            </a:pPr>
            <a:r>
              <a:t>How It Works: The Quick Add Flow</a:t>
            </a:r>
          </a:p>
        </p:txBody>
      </p:sp>
      <p:sp>
        <p:nvSpPr>
          <p:cNvPr id="4" name="Oval 3"/>
          <p:cNvSpPr/>
          <p:nvPr/>
        </p:nvSpPr>
        <p:spPr>
          <a:xfrm>
            <a:off x="1143000" y="1645920"/>
            <a:ext cx="548640" cy="5486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1717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8181B"/>
                </a:solidFill>
                <a:latin typeface="Calibri"/>
              </a:defRPr>
            </a:pPr>
            <a:r>
              <a:t>User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1717A"/>
                </a:solidFill>
                <a:latin typeface="Calibri"/>
              </a:defRPr>
            </a:pPr>
            <a:r>
              <a:t>"2k rent yesterday"</a:t>
            </a:r>
          </a:p>
        </p:txBody>
      </p:sp>
      <p:sp>
        <p:nvSpPr>
          <p:cNvPr id="8" name="Oval 7"/>
          <p:cNvSpPr/>
          <p:nvPr/>
        </p:nvSpPr>
        <p:spPr>
          <a:xfrm>
            <a:off x="3291840" y="164592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1717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8181B"/>
                </a:solidFill>
                <a:latin typeface="Calibri"/>
              </a:defRPr>
            </a:pPr>
            <a:r>
              <a:t>NLP Parses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1717A"/>
                </a:solidFill>
                <a:latin typeface="Calibri"/>
              </a:defRPr>
            </a:pPr>
            <a:r>
              <a:t>Amount: ₹2,000</a:t>
            </a:r>
            <a:br/>
            <a:r>
              <a:t>Category: Rent</a:t>
            </a:r>
            <a:br/>
            <a:r>
              <a:t>Date: Yesterday</a:t>
            </a:r>
          </a:p>
        </p:txBody>
      </p:sp>
      <p:sp>
        <p:nvSpPr>
          <p:cNvPr id="12" name="Oval 11"/>
          <p:cNvSpPr/>
          <p:nvPr/>
        </p:nvSpPr>
        <p:spPr>
          <a:xfrm>
            <a:off x="5440680" y="16459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71717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8181B"/>
                </a:solidFill>
                <a:latin typeface="Calibri"/>
              </a:defRPr>
            </a:pPr>
            <a:r>
              <a:t>Confidence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1717A"/>
                </a:solidFill>
                <a:latin typeface="Calibri"/>
              </a:defRPr>
            </a:pPr>
            <a:r>
              <a:t>Shows parsed result</a:t>
            </a:r>
            <a:br/>
            <a:r>
              <a:t>with High / Check / Guess</a:t>
            </a:r>
            <a:br/>
            <a:r>
              <a:t>badges</a:t>
            </a:r>
          </a:p>
        </p:txBody>
      </p:sp>
      <p:sp>
        <p:nvSpPr>
          <p:cNvPr id="16" name="Oval 15"/>
          <p:cNvSpPr/>
          <p:nvPr/>
        </p:nvSpPr>
        <p:spPr>
          <a:xfrm>
            <a:off x="7589520" y="16459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8181B"/>
                </a:solidFill>
                <a:latin typeface="Calibri"/>
              </a:defRPr>
            </a:pPr>
            <a:r>
              <a:t>One-Tap Save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7432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1717A"/>
                </a:solidFill>
                <a:latin typeface="Calibri"/>
              </a:defRPr>
            </a:pPr>
            <a:r>
              <a:t>Transaction saved</a:t>
            </a:r>
            <a:br/>
            <a:r>
              <a:t>optimistically with</a:t>
            </a:r>
            <a:br/>
            <a:r>
              <a:t>skeleton loading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7680960" cy="18288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Calibri"/>
              </a:defRPr>
            </a:pPr>
            <a:r>
              <a:t>Indian Shorthand Examples Supported: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onsolas"/>
              </a:defRPr>
            </a:pPr>
            <a:r>
              <a:t>"380 zomato lunch"  →  ₹380 · Food &amp; Dining · Today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onsolas"/>
              </a:defRPr>
            </a:pPr>
            <a:r>
              <a:t>"2k rent yesterday"  →  ₹2,000 · Rent · Aug 20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onsolas"/>
              </a:defRPr>
            </a:pPr>
            <a:r>
              <a:t>"got 50000 salary"  →  ₹50,000 · Salary · Income</a:t>
            </a:r>
          </a:p>
          <a:p>
            <a:pPr>
              <a:spcAft>
                <a:spcPts val="400"/>
              </a:spcAft>
              <a:defRPr sz="1200">
                <a:solidFill>
                  <a:srgbClr val="18181B"/>
                </a:solidFill>
                <a:latin typeface="Consolas"/>
              </a:defRPr>
            </a:pPr>
            <a:r>
              <a:t>"1.5k uber cab"  →  ₹1,500 · Transport ·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766E"/>
                </a:solidFill>
                <a:latin typeface="Calibri"/>
              </a:defRPr>
            </a:pPr>
            <a:r>
              <a:t>AI Confidence &amp;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1717A"/>
                </a:solidFill>
                <a:latin typeface="Calibri"/>
              </a:defRPr>
            </a:pPr>
            <a:r>
              <a:t>Every AI decision is explainable — the user always stays in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8288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HIGH CONFIDENCE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28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≥ 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Calibri"/>
              </a:defRPr>
            </a:pPr>
            <a:r>
              <a:t>AI is very sure. One-tap save.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402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Calibri"/>
              </a:defRPr>
            </a:pPr>
            <a:r>
              <a:t>Examples: 'zomato' → Food, 'uber' → Transport. Matched via category rules or strong LLM signal.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828800" cy="457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29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CHECK THIS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97316"/>
                </a:solidFill>
                <a:latin typeface="Calibri"/>
              </a:defRPr>
            </a:pPr>
            <a:r>
              <a:t>50–79%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Calibri"/>
              </a:defRPr>
            </a:pPr>
            <a:r>
              <a:t>AI has a reasonable guess but wants human confirmation.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794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Calibri"/>
              </a:defRPr>
            </a:pPr>
            <a:r>
              <a:t>Examples: 'amazon 2k' could be Shopping OR Groceries. User picks and the system learns.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82880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834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GUESS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937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  <a:latin typeface="Calibri"/>
              </a:defRPr>
            </a:pPr>
            <a:r>
              <a:t>&lt; 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81B"/>
                </a:solidFill>
                <a:latin typeface="Calibri"/>
              </a:defRPr>
            </a:pPr>
            <a:r>
              <a:t>Low confidence. Falls back to 'Other' category.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3492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Calibri"/>
              </a:defRPr>
            </a:pPr>
            <a:r>
              <a:t>Examples: Ambiguous input like '500 misc'. User corrects and a new rule is created.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766E"/>
                </a:solidFill>
                <a:latin typeface="Calibri"/>
              </a:defRPr>
            </a:pPr>
            <a:r>
              <a:t>Self-Learning Category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1717A"/>
                </a:solidFill>
                <a:latin typeface="Calibri"/>
              </a:defRPr>
            </a:pPr>
            <a:r>
              <a:t>ClearSpend gets smarter with every correction you make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7680960" cy="5943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8181B"/>
                </a:solidFill>
                <a:latin typeface="Calibri"/>
              </a:defRPr>
            </a:pPr>
            <a:r>
              <a:t>① AI parses '450 dmart monthly supplies' → Suggests 'Groceries'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7680960" cy="594360"/>
          </a:xfrm>
          <a:prstGeom prst="round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8181B"/>
                </a:solidFill>
                <a:latin typeface="Calibri"/>
              </a:defRPr>
            </a:pPr>
            <a:r>
              <a:t>② User changes category to 'Shopping'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7680960" cy="5943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8181B"/>
                </a:solidFill>
                <a:latin typeface="Calibri"/>
              </a:defRPr>
            </a:pPr>
            <a:r>
              <a:t>③ Engine upserts rule: 'dmart' → Shopping (hit_count: 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7680960" cy="594360"/>
          </a:xfrm>
          <a:prstGeom prst="round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8181B"/>
                </a:solidFill>
                <a:latin typeface="Calibri"/>
              </a:defRPr>
            </a:pPr>
            <a:r>
              <a:t>④ Toast appears: 'Learned! Also apply to past transactions?'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7680960" cy="5943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8181B"/>
                </a:solidFill>
                <a:latin typeface="Calibri"/>
              </a:defRPr>
            </a:pPr>
            <a:r>
              <a:t>⑤ User taps 'Yes' → Bulk retroactive update on all 'dmart'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94960"/>
            <a:ext cx="7680960" cy="594360"/>
          </a:xfrm>
          <a:prstGeom prst="round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8181B"/>
                </a:solidFill>
                <a:latin typeface="Calibri"/>
              </a:defRPr>
            </a:pPr>
            <a:r>
              <a:t>⑥ Next time 'dmart' appears → Auto-categorized as Shopping (100% confidence)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179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Calibri"/>
              </a:defRPr>
            </a:pPr>
            <a:r>
              <a:t>Result: Zero-shot learning → The more you use ClearSpend, the less you need to correct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766E"/>
                </a:solidFill>
                <a:latin typeface="Calibri"/>
              </a:defRPr>
            </a:pPr>
            <a:r>
              <a:t>Review Inbox: Your Financial Guardian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840480" cy="475488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766E"/>
                </a:solidFill>
                <a:latin typeface="Calibri"/>
              </a:defRPr>
            </a:pPr>
            <a:r>
              <a:t>🔁 Duplicate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8181B"/>
                </a:solidFill>
                <a:latin typeface="Calibri"/>
              </a:defRPr>
            </a:pPr>
            <a:r>
              <a:t>• Algorithm: Token Jaccard + Levenshtein distance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</a:defRPr>
            </a:pPr>
            <a:r>
              <a:t>• Fingerprint: hash(merchant + amount + date)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</a:defRPr>
            </a:pPr>
            <a:r>
              <a:t>• Catches UPI double-debits &amp; repeated charges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</a:defRPr>
            </a:pPr>
            <a:r>
              <a:t>• Side-by-side comparison view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</a:defRPr>
            </a:pPr>
            <a:r>
              <a:t>• Actions: Merge (Keep Older) · Keep Both · Delete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3840480" cy="475488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Calibri"/>
              </a:defRPr>
            </a:pPr>
            <a:r>
              <a:t>⚠️ Anomaly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031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8181B"/>
                </a:solidFill>
                <a:latin typeface="Calibri"/>
              </a:defRPr>
            </a:pPr>
            <a:r>
              <a:t>• Threshold: &gt; 3× the category's median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</a:defRPr>
            </a:pPr>
            <a:r>
              <a:t>• Example: ₹4,500 on Food when median is ₹380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</a:defRPr>
            </a:pPr>
            <a:r>
              <a:t>• Highlights unusual spending patterns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</a:defRPr>
            </a:pPr>
            <a:r>
              <a:t>• Quick 'Confirm Correct' or 'Recategorize'</a:t>
            </a:r>
          </a:p>
          <a:p>
            <a:pPr>
              <a:spcAft>
                <a:spcPts val="1000"/>
              </a:spcAft>
              <a:defRPr sz="1300">
                <a:solidFill>
                  <a:srgbClr val="18181B"/>
                </a:solidFill>
              </a:defRPr>
            </a:pPr>
            <a:r>
              <a:t>• Prevents silent budget leaks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766E"/>
                </a:solidFill>
                <a:latin typeface="Calibri"/>
              </a:defRPr>
            </a:pPr>
            <a:r>
              <a:t>Proactive Budget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1717A"/>
                </a:solidFill>
                <a:latin typeface="Calibri"/>
              </a:defRPr>
            </a:pPr>
            <a:r>
              <a:t>From reactive tracking → predictive financial coaching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7680960" cy="109728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CFBF1"/>
                </a:solidFill>
                <a:latin typeface="Calibri"/>
              </a:defRPr>
            </a:pPr>
            <a:r>
              <a:t>THE PACING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Projected Spend = (Spent ÷ Elapsed Days) × Days in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81B"/>
                </a:solidFill>
                <a:latin typeface="Calibri"/>
              </a:defRPr>
            </a:pPr>
            <a:r>
              <a:t>Real Example (Day 15 of a 31-day month):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8181B"/>
                </a:solidFill>
                <a:latin typeface="Calibri"/>
              </a:defRPr>
            </a:pPr>
            <a:r>
              <a:t>Food Budget: ₹9,000/month   |   Spent so far: ₹5,800</a:t>
            </a:r>
          </a:p>
          <a:p>
            <a:pPr>
              <a:spcAft>
                <a:spcPts val="600"/>
              </a:spcAft>
              <a:defRPr sz="1400" b="0">
                <a:solidFill>
                  <a:srgbClr val="18181B"/>
                </a:solidFill>
                <a:latin typeface="Calibri"/>
              </a:defRPr>
            </a:pPr>
            <a:r>
              <a:t>Daily Pace: ₹5,800 ÷ 15 = ₹387/day</a:t>
            </a:r>
          </a:p>
          <a:p>
            <a:pPr>
              <a:spcAft>
                <a:spcPts val="600"/>
              </a:spcAft>
              <a:defRPr sz="1400" b="0">
                <a:solidFill>
                  <a:srgbClr val="18181B"/>
                </a:solidFill>
                <a:latin typeface="Calibri"/>
              </a:defRPr>
            </a:pPr>
            <a:r>
              <a:t>Projected: ₹387 × 31 = ₹11,987  (133% of budget!)</a:t>
            </a:r>
          </a:p>
          <a:p>
            <a:pPr>
              <a:spcAft>
                <a:spcPts val="600"/>
              </a:spcAft>
              <a:defRPr sz="1400" b="0">
                <a:solidFill>
                  <a:srgbClr val="18181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F97316"/>
                </a:solidFill>
                <a:latin typeface="Calibri"/>
              </a:defRPr>
            </a:pPr>
            <a:r>
              <a:t>⚡ Alert Banner:</a:t>
            </a:r>
          </a:p>
          <a:p>
            <a:pPr>
              <a:spcAft>
                <a:spcPts val="600"/>
              </a:spcAft>
              <a:defRPr sz="1400" b="1">
                <a:solidFill>
                  <a:srgbClr val="0F766E"/>
                </a:solidFill>
                <a:latin typeface="Calibri"/>
              </a:defRPr>
            </a:pPr>
            <a:r>
              <a:t>"At this pace you'll spend ₹11,987 on Food &amp; Dining."</a:t>
            </a:r>
          </a:p>
          <a:p>
            <a:pPr>
              <a:spcAft>
                <a:spcPts val="600"/>
              </a:spcAft>
              <a:defRPr sz="1400" b="1">
                <a:solidFill>
                  <a:srgbClr val="0F766E"/>
                </a:solidFill>
                <a:latin typeface="Calibri"/>
              </a:defRPr>
            </a:pPr>
            <a:r>
              <a:t>"Cap it at ₹200/day for the remaining 16 days to stay on track."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766E"/>
                </a:solidFill>
                <a:latin typeface="Calibri"/>
              </a:defRPr>
            </a:pPr>
            <a:r>
              <a:t>Dashboard &amp;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931920" cy="13716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766E"/>
                </a:solidFill>
                <a:latin typeface="Calibri"/>
              </a:defRPr>
            </a:pPr>
            <a:r>
              <a:t>📊  Interactive Donut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Calibri"/>
              </a:defRPr>
            </a:pPr>
            <a:r>
              <a:t>Recharts-powered category breakdown with hover tooltips. Tap any slice to filter the transaction 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3931920" cy="13716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766E"/>
                </a:solidFill>
                <a:latin typeface="Calibri"/>
              </a:defRPr>
            </a:pPr>
            <a:r>
              <a:t>💰  Summary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Calibri"/>
              </a:defRPr>
            </a:pPr>
            <a:r>
              <a:t>Real-time totals for Income, Expenses, and Balance. Updated optimistically on every quick-add.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754880"/>
            <a:ext cx="3931920" cy="13716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766E"/>
                </a:solidFill>
                <a:latin typeface="Calibri"/>
              </a:defRPr>
            </a:pPr>
            <a:r>
              <a:t>📋  Day-Grouped Ledger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5780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Calibri"/>
              </a:defRPr>
            </a:pPr>
            <a:r>
              <a:t>Transactions sorted by date with sticky day headers. Multi-select mode for bulk recategorize or delete.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79" y="1463040"/>
            <a:ext cx="3931920" cy="13716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39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766E"/>
                </a:solidFill>
                <a:latin typeface="Calibri"/>
              </a:defRPr>
            </a:pPr>
            <a:r>
              <a:t>🔍  Smart 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39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Calibri"/>
              </a:defRPr>
            </a:pPr>
            <a:r>
              <a:t>Filter by category, wallet, date range, or keyword. Combine filters for laser-focused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79" y="3108960"/>
            <a:ext cx="3931920" cy="13716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39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766E"/>
                </a:solidFill>
                <a:latin typeface="Calibri"/>
              </a:defRPr>
            </a:pPr>
            <a:r>
              <a:t>📁  CSV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39" y="36118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Calibri"/>
              </a:defRPr>
            </a:pPr>
            <a:r>
              <a:t>One-click export of all transactions to CSV for spreadsheets, accountants, or tax filing.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79" y="4754880"/>
            <a:ext cx="3931920" cy="13716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39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766E"/>
                </a:solidFill>
                <a:latin typeface="Calibri"/>
              </a:defRPr>
            </a:pPr>
            <a:r>
              <a:t>🏆  AI Insights Tab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39" y="525780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717A"/>
                </a:solidFill>
                <a:latin typeface="Calibri"/>
              </a:defRPr>
            </a:pPr>
            <a:r>
              <a:t>Finance coach cards: top movers, subscription detection, spending streaks, forecast summaries.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766E"/>
                </a:solidFill>
                <a:latin typeface="Calibri"/>
              </a:defRPr>
            </a:pPr>
            <a:r>
              <a:t>Technology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657600" cy="23774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Calibri"/>
              </a:defRPr>
            </a:pPr>
            <a:r>
              <a:t>⚛️ 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8181B"/>
                </a:solidFill>
                <a:latin typeface="Calibri"/>
              </a:defRPr>
            </a:pPr>
            <a:r>
              <a:t>• React 18 + TypeScript</a:t>
            </a:r>
          </a:p>
          <a:p>
            <a:pPr>
              <a:spcAft>
                <a:spcPts val="400"/>
              </a:spcAft>
              <a:defRPr sz="1300">
                <a:solidFill>
                  <a:srgbClr val="18181B"/>
                </a:solidFill>
              </a:defRPr>
            </a:pPr>
            <a:r>
              <a:t>• Vite (lightning-fast HMR)</a:t>
            </a:r>
          </a:p>
          <a:p>
            <a:pPr>
              <a:spcAft>
                <a:spcPts val="400"/>
              </a:spcAft>
              <a:defRPr sz="1300">
                <a:solidFill>
                  <a:srgbClr val="18181B"/>
                </a:solidFill>
              </a:defRPr>
            </a:pPr>
            <a:r>
              <a:t>• Tailwind CSS (design tokens)</a:t>
            </a:r>
          </a:p>
          <a:p>
            <a:pPr>
              <a:spcAft>
                <a:spcPts val="400"/>
              </a:spcAft>
              <a:defRPr sz="1300">
                <a:solidFill>
                  <a:srgbClr val="18181B"/>
                </a:solidFill>
              </a:defRPr>
            </a:pPr>
            <a:r>
              <a:t>• Recharts (data visualization)</a:t>
            </a:r>
          </a:p>
          <a:p>
            <a:pPr>
              <a:spcAft>
                <a:spcPts val="400"/>
              </a:spcAft>
              <a:defRPr sz="1300">
                <a:solidFill>
                  <a:srgbClr val="18181B"/>
                </a:solidFill>
              </a:defRPr>
            </a:pPr>
            <a:r>
              <a:t>• Lucide React (icon system)</a:t>
            </a:r>
          </a:p>
          <a:p>
            <a:pPr>
              <a:spcAft>
                <a:spcPts val="400"/>
              </a:spcAft>
              <a:defRPr sz="1300">
                <a:solidFill>
                  <a:srgbClr val="18181B"/>
                </a:solidFill>
              </a:defRPr>
            </a:pPr>
            <a:r>
              <a:t>• Context + localStorage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371600"/>
            <a:ext cx="3657600" cy="23774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Calibri"/>
              </a:defRPr>
            </a:pPr>
            <a:r>
              <a:t>🗄️ 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9202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8181B"/>
                </a:solidFill>
                <a:latin typeface="Calibri"/>
              </a:defRPr>
            </a:pPr>
            <a:r>
              <a:t>• Supabase (PostgreSQL)</a:t>
            </a:r>
          </a:p>
          <a:p>
            <a:pPr>
              <a:spcAft>
                <a:spcPts val="400"/>
              </a:spcAft>
              <a:defRPr sz="1300">
                <a:solidFill>
                  <a:srgbClr val="18181B"/>
                </a:solidFill>
              </a:defRPr>
            </a:pPr>
            <a:r>
              <a:t>• Row-Level Security (RLS)</a:t>
            </a:r>
          </a:p>
          <a:p>
            <a:pPr>
              <a:spcAft>
                <a:spcPts val="400"/>
              </a:spcAft>
              <a:defRPr sz="1300">
                <a:solidFill>
                  <a:srgbClr val="18181B"/>
                </a:solidFill>
              </a:defRPr>
            </a:pPr>
            <a:r>
              <a:t>• Deno Edge Functions</a:t>
            </a:r>
          </a:p>
          <a:p>
            <a:pPr>
              <a:spcAft>
                <a:spcPts val="400"/>
              </a:spcAft>
              <a:defRPr sz="1300">
                <a:solidFill>
                  <a:srgbClr val="18181B"/>
                </a:solidFill>
              </a:defRPr>
            </a:pPr>
            <a:r>
              <a:t>• Auth (Magic Link / OAuth)</a:t>
            </a:r>
          </a:p>
          <a:p>
            <a:pPr>
              <a:spcAft>
                <a:spcPts val="400"/>
              </a:spcAft>
              <a:defRPr sz="1300">
                <a:solidFill>
                  <a:srgbClr val="18181B"/>
                </a:solidFill>
              </a:defRPr>
            </a:pPr>
            <a:r>
              <a:t>• 7 relational tables</a:t>
            </a:r>
          </a:p>
          <a:p>
            <a:pPr>
              <a:spcAft>
                <a:spcPts val="400"/>
              </a:spcAft>
              <a:defRPr sz="1300">
                <a:solidFill>
                  <a:srgbClr val="18181B"/>
                </a:solidFill>
              </a:defRPr>
            </a:pPr>
            <a:r>
              <a:t>• Auto-seed triggers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8046720" cy="2194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🤖  AI / AGENTIC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FBF1"/>
                </a:solidFill>
                <a:latin typeface="Calibri"/>
              </a:defRPr>
            </a:pPr>
            <a:r>
              <a:t>• Model-agnostic LLM interface</a:t>
            </a:r>
          </a:p>
          <a:p>
            <a:pPr>
              <a:spcAft>
                <a:spcPts val="400"/>
              </a:spcAft>
              <a:defRPr sz="1300">
                <a:solidFill>
                  <a:srgbClr val="CCFBF1"/>
                </a:solidFill>
              </a:defRPr>
            </a:pPr>
            <a:r>
              <a:t>• Gemini 2.5 Flash (primary)</a:t>
            </a:r>
          </a:p>
          <a:p>
            <a:pPr>
              <a:spcAft>
                <a:spcPts val="400"/>
              </a:spcAft>
              <a:defRPr sz="1300">
                <a:solidFill>
                  <a:srgbClr val="CCFBF1"/>
                </a:solidFill>
              </a:defRPr>
            </a:pPr>
            <a:r>
              <a:t>• GPT-4o-mini (fallback)</a:t>
            </a:r>
          </a:p>
          <a:p>
            <a:pPr>
              <a:spcAft>
                <a:spcPts val="400"/>
              </a:spcAft>
              <a:defRPr sz="1300">
                <a:solidFill>
                  <a:srgbClr val="CCFBF1"/>
                </a:solidFill>
              </a:defRPr>
            </a:pPr>
            <a:r>
              <a:t>• Deterministic regex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5720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Edge Functions:</a:t>
            </a:r>
          </a:p>
          <a:p>
            <a:pPr>
              <a:spcAft>
                <a:spcPts val="400"/>
              </a:spcAft>
              <a:defRPr sz="1300">
                <a:solidFill>
                  <a:srgbClr val="CCFBF1"/>
                </a:solidFill>
                <a:latin typeface="Consolas"/>
              </a:defRPr>
            </a:pPr>
            <a:r>
              <a:t>• /parse-transaction</a:t>
            </a:r>
          </a:p>
          <a:p>
            <a:pPr>
              <a:spcAft>
                <a:spcPts val="400"/>
              </a:spcAft>
              <a:defRPr sz="1300">
                <a:solidFill>
                  <a:srgbClr val="CCFBF1"/>
                </a:solidFill>
                <a:latin typeface="Consolas"/>
              </a:defRPr>
            </a:pPr>
            <a:r>
              <a:t>• /detect-duplicates</a:t>
            </a:r>
          </a:p>
          <a:p>
            <a:pPr>
              <a:spcAft>
                <a:spcPts val="400"/>
              </a:spcAft>
              <a:defRPr sz="1300">
                <a:solidFill>
                  <a:srgbClr val="CCFBF1"/>
                </a:solidFill>
                <a:latin typeface="Consolas"/>
              </a:defRPr>
            </a:pPr>
            <a:r>
              <a:t>• /generate-insights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766E"/>
                </a:solidFill>
                <a:latin typeface="Calibri"/>
              </a:defRPr>
            </a:pPr>
            <a:r>
              <a:t>Database Schema (7 Tables)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82880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3560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profiles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43560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8181B"/>
                </a:solidFill>
                <a:latin typeface="Calibri"/>
              </a:defRPr>
            </a:pPr>
            <a:r>
              <a:t>User identity, display name, base currency (INR), onboarding status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84832"/>
            <a:ext cx="182880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wallets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488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8181B"/>
                </a:solidFill>
                <a:latin typeface="Calibri"/>
              </a:defRPr>
            </a:pPr>
            <a:r>
              <a:t>HDFC Bank, Google Pay, Cash, ICICI Card — with opening balances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98064"/>
            <a:ext cx="182880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620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6207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8181B"/>
                </a:solidFill>
                <a:latin typeface="Calibri"/>
              </a:defRPr>
            </a:pPr>
            <a:r>
              <a:t>12 default categories (10 expense + 2 income), custom icons &amp; colors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11296"/>
            <a:ext cx="182880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7530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transactions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7530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8181B"/>
                </a:solidFill>
                <a:latin typeface="Calibri"/>
              </a:defRPr>
            </a:pPr>
            <a:r>
              <a:t>Core ledger: amount, kind, merchant, AI confidence, fingerprint,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24528"/>
            <a:ext cx="182880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8853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budgets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28853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8181B"/>
                </a:solidFill>
                <a:latin typeface="Calibri"/>
              </a:defRPr>
            </a:pPr>
            <a:r>
              <a:t>Monthly category limits with alert thresholds (default 80%)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182880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017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category_rules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00176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8181B"/>
                </a:solidFill>
                <a:latin typeface="Calibri"/>
              </a:defRPr>
            </a:pPr>
            <a:r>
              <a:t>Self-learned merchant→category mappings with hit counts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650992"/>
            <a:ext cx="1828800" cy="5029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715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7150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8181B"/>
                </a:solidFill>
                <a:latin typeface="Calibri"/>
              </a:defRPr>
            </a:pPr>
            <a:r>
              <a:t>AI-generated finance coach cards: forecasts, top movers, streaks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008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766E"/>
                </a:solidFill>
                <a:latin typeface="Calibri"/>
              </a:defRPr>
            </a:pPr>
            <a:r>
              <a:t>All tables protected by Row Level Security: user_id = auth.uid()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766E"/>
                </a:solidFill>
                <a:latin typeface="Calibri"/>
              </a:defRPr>
            </a:pPr>
            <a:r>
              <a:t>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1717A"/>
                </a:solidFill>
                <a:latin typeface="Calibri"/>
              </a:defRPr>
            </a:pPr>
            <a:r>
              <a:t>Financial apps should feel calm, trustworthy, and premium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48640" cy="5486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37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Calibri"/>
              </a:defRPr>
            </a:pPr>
            <a:r>
              <a:t>Deep Teal  #0F766E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Primary accent — trust, calm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737360"/>
            <a:ext cx="548640" cy="548640"/>
          </a:xfrm>
          <a:prstGeom prst="roundRect">
            <a:avLst/>
          </a:prstGeom>
          <a:solidFill>
            <a:srgbClr val="E6E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737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Calibri"/>
              </a:defRPr>
            </a:pPr>
            <a:r>
              <a:t>Off-White  #FAFAF8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Canvas background — breathable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48640" cy="548640"/>
          </a:xfrm>
          <a:prstGeom prst="round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737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Calibri"/>
              </a:defRPr>
            </a:pPr>
            <a:r>
              <a:t>Near-Black  #18181B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011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Body text — clarity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548640" cy="5486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200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Calibri"/>
              </a:defRPr>
            </a:pPr>
            <a:r>
              <a:t>Warm Orange  #F97316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74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Food, alerts, warnings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200400"/>
            <a:ext cx="54864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3200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Calibri"/>
              </a:defRPr>
            </a:pPr>
            <a:r>
              <a:t>Emerald  #10B981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474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Income, success states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200400"/>
            <a:ext cx="54864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32004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Calibri"/>
              </a:defRPr>
            </a:pPr>
            <a:r>
              <a:t>Violet  #8B5CF6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474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Entertainment,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766E"/>
                </a:solidFill>
                <a:latin typeface="Calibri"/>
              </a:defRPr>
            </a:pPr>
            <a:r>
              <a:t>Key Design Principles: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8181B"/>
                </a:solidFill>
                <a:latin typeface="Calibri"/>
              </a:defRPr>
            </a:pPr>
            <a:r>
              <a:t>• Tabular numerals (font-variant-numeric: tabular-nums) for perfect number alignment</a:t>
            </a:r>
          </a:p>
          <a:p>
            <a:pPr>
              <a:spcAft>
                <a:spcPts val="600"/>
              </a:spcAft>
              <a:defRPr sz="1300">
                <a:solidFill>
                  <a:srgbClr val="18181B"/>
                </a:solidFill>
              </a:defRPr>
            </a:pPr>
            <a:r>
              <a:t>• Skeleton loaders during AI parsing — the UI feels alive, never frozen</a:t>
            </a:r>
          </a:p>
          <a:p>
            <a:pPr>
              <a:spcAft>
                <a:spcPts val="600"/>
              </a:spcAft>
              <a:defRPr sz="1300">
                <a:solidFill>
                  <a:srgbClr val="18181B"/>
                </a:solidFill>
              </a:defRPr>
            </a:pPr>
            <a:r>
              <a:t>• Optimistic updates — transactions appear instantly before server confirms</a:t>
            </a:r>
          </a:p>
          <a:p>
            <a:pPr>
              <a:spcAft>
                <a:spcPts val="600"/>
              </a:spcAft>
              <a:defRPr sz="1300">
                <a:solidFill>
                  <a:srgbClr val="18181B"/>
                </a:solidFill>
              </a:defRPr>
            </a:pPr>
            <a:r>
              <a:t>• Micro-animations on confidence badges, toast notifications, and card transitions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766E"/>
                </a:solidFill>
                <a:latin typeface="Calibri"/>
              </a:defRPr>
            </a:pPr>
            <a:r>
              <a:t>Instant Demo &amp; Onboarding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840480" cy="475488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Calibri"/>
              </a:defRPr>
            </a:pPr>
            <a:r>
              <a:t>🎮  1-Click Demo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8181B"/>
                </a:solidFill>
                <a:latin typeface="Calibri"/>
              </a:defRPr>
            </a:pPr>
            <a:r>
              <a:t>• 40+ realistic pre-seeded transactions</a:t>
            </a:r>
          </a:p>
          <a:p>
            <a:pPr>
              <a:spcAft>
                <a:spcPts val="800"/>
              </a:spcAft>
              <a:defRPr sz="1300">
                <a:solidFill>
                  <a:srgbClr val="18181B"/>
                </a:solidFill>
              </a:defRPr>
            </a:pPr>
            <a:r>
              <a:t>• 2 months of spending data (July &amp; Aug 2026)</a:t>
            </a:r>
          </a:p>
          <a:p>
            <a:pPr>
              <a:spcAft>
                <a:spcPts val="800"/>
              </a:spcAft>
              <a:defRPr sz="1300">
                <a:solidFill>
                  <a:srgbClr val="18181B"/>
                </a:solidFill>
              </a:defRPr>
            </a:pPr>
            <a:r>
              <a:t>• 4 wallets: HDFC, Google Pay, Cash, ICICI</a:t>
            </a:r>
          </a:p>
          <a:p>
            <a:pPr>
              <a:spcAft>
                <a:spcPts val="800"/>
              </a:spcAft>
              <a:defRPr sz="1300">
                <a:solidFill>
                  <a:srgbClr val="18181B"/>
                </a:solidFill>
              </a:defRPr>
            </a:pPr>
            <a:r>
              <a:t>• 12 categories with custom colors &amp; icons</a:t>
            </a:r>
          </a:p>
          <a:p>
            <a:pPr>
              <a:spcAft>
                <a:spcPts val="800"/>
              </a:spcAft>
              <a:defRPr sz="1300">
                <a:solidFill>
                  <a:srgbClr val="18181B"/>
                </a:solidFill>
              </a:defRPr>
            </a:pPr>
            <a:r>
              <a:t>• Pre-planted duplicate pair for review</a:t>
            </a:r>
          </a:p>
          <a:p>
            <a:pPr>
              <a:spcAft>
                <a:spcPts val="800"/>
              </a:spcAft>
              <a:defRPr sz="1300">
                <a:solidFill>
                  <a:srgbClr val="18181B"/>
                </a:solidFill>
              </a:defRPr>
            </a:pPr>
            <a:r>
              <a:t>• Pre-planted anomaly (₹4,500 &gt; 3× median)</a:t>
            </a:r>
          </a:p>
          <a:p>
            <a:pPr>
              <a:spcAft>
                <a:spcPts val="800"/>
              </a:spcAft>
              <a:defRPr sz="1300">
                <a:solidFill>
                  <a:srgbClr val="18181B"/>
                </a:solidFill>
              </a:defRPr>
            </a:pPr>
            <a:r>
              <a:t>• 3 budget targets with pace calculations</a:t>
            </a:r>
          </a:p>
          <a:p>
            <a:pPr>
              <a:spcAft>
                <a:spcPts val="800"/>
              </a:spcAft>
              <a:defRPr sz="1300">
                <a:solidFill>
                  <a:srgbClr val="18181B"/>
                </a:solidFill>
              </a:defRPr>
            </a:pPr>
            <a:r>
              <a:t>• No Supabase credentials needed!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3840480" cy="475488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Calibri"/>
              </a:defRPr>
            </a:pPr>
            <a:r>
              <a:t>🚀  3-Step Onboarding Wizard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01168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8181B"/>
                </a:solidFill>
                <a:latin typeface="Calibri"/>
              </a:defRPr>
            </a:pPr>
            <a:r>
              <a:t>Step 1: Welcome &amp; Profile Setup</a:t>
            </a:r>
          </a:p>
          <a:p>
            <a:pPr>
              <a:spcAft>
                <a:spcPts val="600"/>
              </a:spcAft>
              <a:defRPr sz="1200" b="0">
                <a:solidFill>
                  <a:srgbClr val="71717A"/>
                </a:solidFill>
              </a:defRPr>
            </a:pPr>
            <a:r>
              <a:t>→ Display name, preferred currency</a:t>
            </a:r>
          </a:p>
          <a:p>
            <a:pPr>
              <a:spcAft>
                <a:spcPts val="600"/>
              </a:spcAft>
              <a:defRPr sz="1300" b="1">
                <a:solidFill>
                  <a:srgbClr val="18181B"/>
                </a:solidFill>
              </a:defRPr>
            </a:pPr>
            <a:r>
              <a:t>Step 2: Create Your First Wallet</a:t>
            </a:r>
          </a:p>
          <a:p>
            <a:pPr>
              <a:spcAft>
                <a:spcPts val="600"/>
              </a:spcAft>
              <a:defRPr sz="1200" b="0">
                <a:solidFill>
                  <a:srgbClr val="71717A"/>
                </a:solidFill>
              </a:defRPr>
            </a:pPr>
            <a:r>
              <a:t>→ Bank, UPI, Cash, or Credit Card</a:t>
            </a:r>
          </a:p>
          <a:p>
            <a:pPr>
              <a:spcAft>
                <a:spcPts val="600"/>
              </a:spcAft>
              <a:defRPr sz="1300" b="1">
                <a:solidFill>
                  <a:srgbClr val="18181B"/>
                </a:solidFill>
              </a:defRPr>
            </a:pPr>
            <a:r>
              <a:t>Step 3: Set Monthly Budgets</a:t>
            </a:r>
          </a:p>
          <a:p>
            <a:pPr>
              <a:spcAft>
                <a:spcPts val="600"/>
              </a:spcAft>
              <a:defRPr sz="1200" b="0">
                <a:solidFill>
                  <a:srgbClr val="71717A"/>
                </a:solidFill>
              </a:defRPr>
            </a:pPr>
            <a:r>
              <a:t>→ 3-month average suggestions shown</a:t>
            </a:r>
          </a:p>
          <a:p>
            <a:pPr>
              <a:spcAft>
                <a:spcPts val="600"/>
              </a:spcAft>
              <a:defRPr sz="1300" b="0">
                <a:solidFill>
                  <a:srgbClr val="18181B"/>
                </a:solidFill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18181B"/>
                </a:solidFill>
              </a:defRPr>
            </a:pPr>
            <a:r>
              <a:t>Goal: User reaches 'Aha!' moment</a:t>
            </a:r>
          </a:p>
          <a:p>
            <a:pPr>
              <a:spcAft>
                <a:spcPts val="600"/>
              </a:spcAft>
              <a:defRPr sz="1300" b="1">
                <a:solidFill>
                  <a:srgbClr val="18181B"/>
                </a:solidFill>
              </a:defRPr>
            </a:pPr>
            <a:r>
              <a:t>within 60 seconds of landing.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766E"/>
                </a:solidFill>
                <a:latin typeface="Calibri"/>
              </a:defRPr>
            </a:pPr>
            <a:r>
              <a:t>Roadmap &amp; Future 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97480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NOW 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8181B"/>
                </a:solidFill>
                <a:latin typeface="Calibri"/>
              </a:defRPr>
            </a:pPr>
            <a:r>
              <a:t>Hackathon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514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"/>
              </a:defRPr>
            </a:pPr>
            <a:r>
              <a:t>• NLP Quick Add with Indian shorthand</a:t>
            </a:r>
          </a:p>
          <a:p>
            <a:pPr>
              <a:spcAft>
                <a:spcPts val="600"/>
              </a:spcAft>
              <a:defRPr sz="1200">
                <a:solidFill>
                  <a:srgbClr val="18181B"/>
                </a:solidFill>
              </a:defRPr>
            </a:pPr>
            <a:r>
              <a:t>• Self-learning category rules</a:t>
            </a:r>
          </a:p>
          <a:p>
            <a:pPr>
              <a:spcAft>
                <a:spcPts val="600"/>
              </a:spcAft>
              <a:defRPr sz="1200">
                <a:solidFill>
                  <a:srgbClr val="18181B"/>
                </a:solidFill>
              </a:defRPr>
            </a:pPr>
            <a:r>
              <a:t>• Duplicate &amp; anomaly detection</a:t>
            </a:r>
          </a:p>
          <a:p>
            <a:pPr>
              <a:spcAft>
                <a:spcPts val="600"/>
              </a:spcAft>
              <a:defRPr sz="1200">
                <a:solidFill>
                  <a:srgbClr val="18181B"/>
                </a:solidFill>
              </a:defRPr>
            </a:pPr>
            <a:r>
              <a:t>• Proactive budget pacing</a:t>
            </a:r>
          </a:p>
          <a:p>
            <a:pPr>
              <a:spcAft>
                <a:spcPts val="600"/>
              </a:spcAft>
              <a:defRPr sz="1200">
                <a:solidFill>
                  <a:srgbClr val="18181B"/>
                </a:solidFill>
              </a:defRPr>
            </a:pPr>
            <a:r>
              <a:t>• Deployed on Vercel + Supabase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97480" cy="50292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4173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NEXT  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965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8181B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77440"/>
            <a:ext cx="2514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"/>
              </a:defRPr>
            </a:pPr>
            <a:r>
              <a:t>• SMS webhook auto-capture</a:t>
            </a:r>
          </a:p>
          <a:p>
            <a:pPr>
              <a:spcAft>
                <a:spcPts val="600"/>
              </a:spcAft>
              <a:defRPr sz="1200">
                <a:solidFill>
                  <a:srgbClr val="18181B"/>
                </a:solidFill>
              </a:defRPr>
            </a:pPr>
            <a:r>
              <a:t>• Bank statement PDF import</a:t>
            </a:r>
          </a:p>
          <a:p>
            <a:pPr>
              <a:spcAft>
                <a:spcPts val="600"/>
              </a:spcAft>
              <a:defRPr sz="1200">
                <a:solidFill>
                  <a:srgbClr val="18181B"/>
                </a:solidFill>
              </a:defRPr>
            </a:pPr>
            <a:r>
              <a:t>• Multi-currency with live FX rates</a:t>
            </a:r>
          </a:p>
          <a:p>
            <a:pPr>
              <a:spcAft>
                <a:spcPts val="600"/>
              </a:spcAft>
              <a:defRPr sz="1200">
                <a:solidFill>
                  <a:srgbClr val="18181B"/>
                </a:solidFill>
              </a:defRPr>
            </a:pPr>
            <a:r>
              <a:t>• Push notification alerts</a:t>
            </a:r>
          </a:p>
          <a:p>
            <a:pPr>
              <a:spcAft>
                <a:spcPts val="600"/>
              </a:spcAft>
              <a:defRPr sz="1200">
                <a:solidFill>
                  <a:srgbClr val="18181B"/>
                </a:solidFill>
              </a:defRPr>
            </a:pPr>
            <a:r>
              <a:t>• Recurring transaction detection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974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173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VISION  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6596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8181B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40"/>
            <a:ext cx="2514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8181B"/>
                </a:solidFill>
                <a:latin typeface="Calibri"/>
              </a:defRPr>
            </a:pPr>
            <a:r>
              <a:t>• Investment portfolio tracking</a:t>
            </a:r>
          </a:p>
          <a:p>
            <a:pPr>
              <a:spcAft>
                <a:spcPts val="600"/>
              </a:spcAft>
              <a:defRPr sz="1200">
                <a:solidFill>
                  <a:srgbClr val="18181B"/>
                </a:solidFill>
              </a:defRPr>
            </a:pPr>
            <a:r>
              <a:t>• Tax-saving recommendations</a:t>
            </a:r>
          </a:p>
          <a:p>
            <a:pPr>
              <a:spcAft>
                <a:spcPts val="600"/>
              </a:spcAft>
              <a:defRPr sz="1200">
                <a:solidFill>
                  <a:srgbClr val="18181B"/>
                </a:solidFill>
              </a:defRPr>
            </a:pPr>
            <a:r>
              <a:t>• Family/shared expense groups</a:t>
            </a:r>
          </a:p>
          <a:p>
            <a:pPr>
              <a:spcAft>
                <a:spcPts val="600"/>
              </a:spcAft>
              <a:defRPr sz="1200">
                <a:solidFill>
                  <a:srgbClr val="18181B"/>
                </a:solidFill>
              </a:defRPr>
            </a:pPr>
            <a:r>
              <a:t>• WhatsApp bot integration</a:t>
            </a:r>
          </a:p>
          <a:p>
            <a:pPr>
              <a:spcAft>
                <a:spcPts val="600"/>
              </a:spcAft>
              <a:defRPr sz="1200">
                <a:solidFill>
                  <a:srgbClr val="18181B"/>
                </a:solidFill>
              </a:defRPr>
            </a:pPr>
            <a:r>
              <a:t>• AI financial planning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FBF1"/>
                </a:solidFill>
                <a:latin typeface="Calibri"/>
              </a:defRPr>
            </a:pPr>
            <a:r>
              <a:t>ClearSpend — Your AI Financial Copilot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474720"/>
            <a:ext cx="2743200" cy="36576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🌐  Live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FBF1"/>
                </a:solidFill>
                <a:latin typeface="Consolas"/>
              </a:defRPr>
            </a:pPr>
            <a:r>
              <a:t>clearspend-ai-expense-tracker.vercel.app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📦  Source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FBF1"/>
                </a:solidFill>
                <a:latin typeface="Consolas"/>
              </a:defRPr>
            </a:pPr>
            <a:r>
              <a:t>github.com/sreetejlakkam/ClearSpend-AI-Expense-Tracker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FBF1"/>
                </a:solidFill>
                <a:latin typeface="Calibri"/>
              </a:defRPr>
            </a:pPr>
            <a:r>
              <a:t>Built with ❤️ using React · TypeScript · Supabase · Gemini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