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Cover /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Title: ClearSpend</a:t>
            </a:r>
          </a:p>
          <a:p>
            <a:pPr>
              <a:defRPr sz="1300"/>
            </a:pPr>
            <a:r>
              <a:t>• Subtitle: AI-Powered Expense Tracker &amp; Money Coach</a:t>
            </a:r>
          </a:p>
          <a:p>
            <a:pPr>
              <a:defRPr sz="1300"/>
            </a:pPr>
            <a:r>
              <a:t>• Tagline: "Log spending in one line, trust the numbers, and get warned before your month goes wrong — not after."</a:t>
            </a:r>
          </a:p>
          <a:p>
            <a:pPr>
              <a:defRPr sz="1300"/>
            </a:pPr>
            <a:r>
              <a:t>• Badge: Built for India | UPI • Cash • Cards</a:t>
            </a:r>
          </a:p>
          <a:p>
            <a:pPr>
              <a:defRPr sz="1300"/>
            </a:pPr>
            <a:r>
              <a:t>• Footer: Live: clearspend-ai-expense-tracker.vercel.app | GitHub: sreetejlakkam/ClearSpend-Expense-Tracker-Outskill</a:t>
            </a:r>
          </a:p>
          <a:p>
            <a:pPr>
              <a:defRPr sz="1300"/>
            </a:pPr>
            <a:r>
              <a:t>• Visual: Hero image of Indian professional</a:t>
            </a:r>
          </a:p>
          <a:p>
            <a:pPr>
              <a:defRPr sz="1300"/>
            </a:pPr>
            <a:r>
              <a:t>• Layout: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The Problem — Why Expense Trackers Die in 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Everyone Downloads. Almost No One Stays.</a:t>
            </a:r>
          </a:p>
          <a:p>
            <a:pPr>
              <a:defRPr sz="1300"/>
            </a:pPr>
            <a:r>
              <a:t>• Stats: 73% abandon in 30 days (industry avg)</a:t>
            </a:r>
          </a:p>
          <a:p>
            <a:pPr>
              <a:defRPr sz="1300"/>
            </a:pPr>
            <a:r>
              <a:t>• 3 Pains:</a:t>
            </a:r>
          </a:p>
          <a:p>
            <a:pPr>
              <a:defRPr sz="1300"/>
            </a:pPr>
            <a:r>
              <a:t>• Logging friction: 5+ fields per expense → 20 sec becomes 2 min chore</a:t>
            </a:r>
          </a:p>
          <a:p>
            <a:pPr>
              <a:defRPr sz="1300"/>
            </a:pPr>
            <a:r>
              <a:t>• Untrustworthy data: Bank sync duplicates, credit card bill booked as income, wrong categories</a:t>
            </a:r>
          </a:p>
          <a:p>
            <a:pPr>
              <a:defRPr sz="1300"/>
            </a:pPr>
            <a:r>
              <a:t>• Passive insights: Rearview pie chart after month is already blown</a:t>
            </a:r>
          </a:p>
          <a:p>
            <a:pPr>
              <a:defRPr sz="1300"/>
            </a:pPr>
            <a:r>
              <a:t>• India context: UPI + Cash + Cards split, SMS alerts noisy, no single app handles ₹2k, ₹, rs shorthand</a:t>
            </a:r>
          </a:p>
          <a:p>
            <a:pPr>
              <a:defRPr sz="1300"/>
            </a:pPr>
            <a:r>
              <a:t>• Quote: Spendee Play Store reviews: "duplicate transactions, credit-card balances booked as income with no way to fix"</a:t>
            </a:r>
          </a:p>
          <a:p>
            <a:pPr>
              <a:defRPr sz="1300"/>
            </a:pPr>
            <a:r>
              <a:t>• Visual: abandonment curve chart</a:t>
            </a:r>
          </a:p>
        </p:txBody>
      </p:sp>
      <p:pic>
        <p:nvPicPr>
          <p:cNvPr id="5" name="Picture 4" descr="chart_aband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Who We Serve — Indian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Built for Salaried Professionals &amp; Students Managing Money Across Cash, UPI &amp; Cards</a:t>
            </a:r>
          </a:p>
          <a:p>
            <a:pPr>
              <a:defRPr sz="1300"/>
            </a:pPr>
            <a:r>
              <a:t>• Persona: 22-40yo, Bengaluru/Hyderabad/Mumbai, ₹35k-₹1.2L salary, 10-20 sec bursts right after paying</a:t>
            </a:r>
          </a:p>
          <a:p>
            <a:pPr>
              <a:defRPr sz="1300"/>
            </a:pPr>
            <a:r>
              <a:t>• Behaviors: Zomato ₹380, Uber ₹450 yesterday, 2k rent, got 50k salary</a:t>
            </a:r>
          </a:p>
          <a:p>
            <a:pPr>
              <a:defRPr sz="1300"/>
            </a:pPr>
            <a:r>
              <a:t>• Needs: One-handed mobile at 390px, thumb-reach actions, trust over automation</a:t>
            </a:r>
          </a:p>
          <a:p>
            <a:pPr>
              <a:defRPr sz="1300"/>
            </a:pPr>
            <a:r>
              <a:t>• India-specific: Understands 2k=2000, 1.5k, last Friday, day before yesterday, ₹/Rs symbols</a:t>
            </a:r>
          </a:p>
          <a:p>
            <a:pPr>
              <a:defRPr sz="1300"/>
            </a:pPr>
            <a:r>
              <a:t>• Visual: persona collage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 Gap — What Incumbents Get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Everyone Has Tracking + Categories + Charts. Nobody Owns Trust.</a:t>
            </a:r>
          </a:p>
          <a:p>
            <a:pPr>
              <a:defRPr sz="1300"/>
            </a:pPr>
            <a:r>
              <a:t>• Table:</a:t>
            </a:r>
          </a:p>
          <a:p>
            <a:pPr>
              <a:defRPr sz="1300"/>
            </a:pPr>
            <a:r>
              <a:t>• Spendee: Beautiful design, 2500+ banks | Bank sync breaks weeks, duplicates, income misbooking, subscription push</a:t>
            </a:r>
          </a:p>
          <a:p>
            <a:pPr>
              <a:defRPr sz="1300"/>
            </a:pPr>
            <a:r>
              <a:t>• YNAB: Rigorous zero-based | Steep learning curve, expensive, US-centric</a:t>
            </a:r>
          </a:p>
          <a:p>
            <a:pPr>
              <a:defRPr sz="1300"/>
            </a:pPr>
            <a:r>
              <a:t>• Walnut / Money Manager India: SMS auto-capture | Noisy parsing, category chaos, dated UI, weak insights</a:t>
            </a:r>
          </a:p>
          <a:p>
            <a:pPr>
              <a:defRPr sz="1300"/>
            </a:pPr>
            <a:r>
              <a:t>• Insight: The wedge = "The ledger repairs itself and warns you early"</a:t>
            </a:r>
          </a:p>
          <a:p>
            <a:pPr>
              <a:defRPr sz="1300"/>
            </a:pPr>
            <a:r>
              <a:t>• Visual: competitor pain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Introducing ClearSpend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One-Line Capture. Self-Healing Ledger. Proactive AI Coach.</a:t>
            </a:r>
          </a:p>
          <a:p>
            <a:pPr>
              <a:defRPr sz="1300"/>
            </a:pPr>
            <a:r>
              <a:t>• Three pillars:</a:t>
            </a:r>
          </a:p>
          <a:p>
            <a:pPr>
              <a:defRPr sz="1300"/>
            </a:pPr>
            <a:r>
              <a:t>• ⚡ Instant: Type "380 zomato lunch" → parsed, categorized, saved &lt;1s</a:t>
            </a:r>
          </a:p>
          <a:p>
            <a:pPr>
              <a:defRPr sz="1300"/>
            </a:pPr>
            <a:r>
              <a:t>• 🛡️ Trustworthy: Duplicate guard, anomaly &gt;3x median, Review Inbox with Merge/Keep/Delete</a:t>
            </a:r>
          </a:p>
          <a:p>
            <a:pPr>
              <a:defRPr sz="1300"/>
            </a:pPr>
            <a:r>
              <a:t>• 🔮 Proactive: "At this pace you'll spend ₹18,400 on Food — cap at ₹320/day to stay on track"</a:t>
            </a:r>
          </a:p>
          <a:p>
            <a:pPr>
              <a:defRPr sz="1300"/>
            </a:pPr>
            <a:r>
              <a:t>• Promise: From tedious chore to effortless peace of mind</a:t>
            </a:r>
          </a:p>
          <a:p>
            <a:pPr>
              <a:defRPr sz="1300"/>
            </a:pPr>
            <a:r>
              <a:t>• Visual: 3 pillars icon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Wow Moment #1 — One-Line Natural Language Quick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Log 5 Transactions in 60 Seconds. No Forms.</a:t>
            </a:r>
          </a:p>
          <a:p>
            <a:pPr>
              <a:defRPr sz="1300"/>
            </a:pPr>
            <a:r>
              <a:t>• Demo inputs:</a:t>
            </a:r>
          </a:p>
          <a:p>
            <a:pPr>
              <a:defRPr sz="1300"/>
            </a:pPr>
            <a:r>
              <a:t>• "380 zomato lunch" → Food ₹380 Today, High confidence</a:t>
            </a:r>
          </a:p>
          <a:p>
            <a:pPr>
              <a:defRPr sz="1300"/>
            </a:pPr>
            <a:r>
              <a:t>• "2k rent yesterday" → Housing ₹2000 Yesterday, Indian shorthand resolved</a:t>
            </a:r>
          </a:p>
          <a:p>
            <a:pPr>
              <a:defRPr sz="1300"/>
            </a:pPr>
            <a:r>
              <a:t>• "got 50000 salary" → Income ₹50,000, kind detection</a:t>
            </a:r>
          </a:p>
          <a:p>
            <a:pPr>
              <a:defRPr sz="1300"/>
            </a:pPr>
            <a:r>
              <a:t>• "paid 450 to uber last friday" → Transport ₹450 Date resolved</a:t>
            </a:r>
          </a:p>
          <a:p>
            <a:pPr>
              <a:defRPr sz="1300"/>
            </a:pPr>
            <a:r>
              <a:t>• "1.5k bday gift for mom" → Gifts ₹1500</a:t>
            </a:r>
          </a:p>
          <a:p>
            <a:pPr>
              <a:defRPr sz="1300"/>
            </a:pPr>
            <a:r>
              <a:t>• Tech: LLM Edge Function parse-transaction + offline fallback, validation layer, degraded flag</a:t>
            </a:r>
          </a:p>
          <a:p>
            <a:pPr>
              <a:defRPr sz="1300"/>
            </a:pPr>
            <a:r>
              <a:t>• Visual: parsing pipeline diagram</a:t>
            </a:r>
          </a:p>
        </p:txBody>
      </p:sp>
      <p:pic>
        <p:nvPicPr>
          <p:cNvPr id="5" name="Picture 4" descr="diagram_pars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AI Feature — Confidence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We Show Our Work. You Stay in Control.</a:t>
            </a:r>
          </a:p>
          <a:p>
            <a:pPr>
              <a:defRPr sz="1300"/>
            </a:pPr>
            <a:r>
              <a:t>• Badges:</a:t>
            </a:r>
          </a:p>
          <a:p>
            <a:pPr>
              <a:defRPr sz="1300"/>
            </a:pPr>
            <a:r>
              <a:t>• High &gt;0.8 → green, auto-trusted</a:t>
            </a:r>
          </a:p>
          <a:p>
            <a:pPr>
              <a:defRPr sz="1300"/>
            </a:pPr>
            <a:r>
              <a:t>• Check this 0.5-0.8 → amber, please verify</a:t>
            </a:r>
          </a:p>
          <a:p>
            <a:pPr>
              <a:defRPr sz="1300"/>
            </a:pPr>
            <a:r>
              <a:t>• Guess &lt;0.5 → red, manual review</a:t>
            </a:r>
          </a:p>
          <a:p>
            <a:pPr>
              <a:defRPr sz="1300"/>
            </a:pPr>
            <a:r>
              <a:t>• UX: Confidence chip on every transaction, tap to edit</a:t>
            </a:r>
          </a:p>
          <a:p>
            <a:pPr>
              <a:defRPr sz="1300"/>
            </a:pPr>
            <a:r>
              <a:t>• Why it matters: Most AI hides uncertainty. We surface it → builds trust</a:t>
            </a:r>
          </a:p>
          <a:p>
            <a:pPr>
              <a:defRPr sz="1300"/>
            </a:pPr>
            <a:r>
              <a:t>• Visual: confidence badges UI mock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Wow Moment #2 — Self-Learning Category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Correct Once. It Learns Forever.</a:t>
            </a:r>
          </a:p>
          <a:p>
            <a:pPr>
              <a:defRPr sz="1300"/>
            </a:pPr>
            <a:r>
              <a:t>• Flow:</a:t>
            </a:r>
          </a:p>
          <a:p>
            <a:pPr>
              <a:defRPr sz="1300"/>
            </a:pPr>
            <a:r>
              <a:t>• User corrects Zomato from Shopping → Food</a:t>
            </a:r>
          </a:p>
          <a:p>
            <a:pPr>
              <a:defRPr sz="1300"/>
            </a:pPr>
            <a:r>
              <a:t>• Toast: "Learned — I'll file Zomato under Food from now on. Apply to 4 past transactions?"</a:t>
            </a:r>
          </a:p>
          <a:p>
            <a:pPr>
              <a:defRPr sz="1300"/>
            </a:pPr>
            <a:r>
              <a:t>• One-click retroactive update → compounding switching cost</a:t>
            </a:r>
          </a:p>
          <a:p>
            <a:pPr>
              <a:defRPr sz="1300"/>
            </a:pPr>
            <a:r>
              <a:t>• Storage: category_rules table: match_text(lower), category_id, hit_count</a:t>
            </a:r>
          </a:p>
          <a:p>
            <a:pPr>
              <a:defRPr sz="1300"/>
            </a:pPr>
            <a:r>
              <a:t>• Moat: Every correction = personalized model. Accuracy rises, cost drops with use</a:t>
            </a:r>
          </a:p>
          <a:p>
            <a:pPr>
              <a:defRPr sz="1300"/>
            </a:pPr>
            <a:r>
              <a:t>• Visual: learning loop diagram</a:t>
            </a:r>
          </a:p>
        </p:txBody>
      </p:sp>
      <p:pic>
        <p:nvPicPr>
          <p:cNvPr id="5" name="Picture 4" descr="diagram_learn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Wow Moment #3 — Self-Healing Ledger &amp; Review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The Failure Mode That Kills Competitors — We Catch It.</a:t>
            </a:r>
          </a:p>
          <a:p>
            <a:pPr>
              <a:defRPr sz="1300"/>
            </a:pPr>
            <a:r>
              <a:t>• Duplicate Detection:</a:t>
            </a:r>
          </a:p>
          <a:p>
            <a:pPr>
              <a:defRPr sz="1300"/>
            </a:pPr>
            <a:r>
              <a:t>• Fingerprint matching + same amount/date + merchant similarity (Levenshtein)</a:t>
            </a:r>
          </a:p>
          <a:p>
            <a:pPr>
              <a:defRPr sz="1300"/>
            </a:pPr>
            <a:r>
              <a:t>• Actions: Merge (keep older, mark newer merged), Keep Both, Delete</a:t>
            </a:r>
          </a:p>
          <a:p>
            <a:pPr>
              <a:defRPr sz="1300"/>
            </a:pPr>
            <a:r>
              <a:t>• Anomaly Detection: &gt;3x category median flagged as unusual spike</a:t>
            </a:r>
          </a:p>
          <a:p>
            <a:pPr>
              <a:defRPr sz="1300"/>
            </a:pPr>
            <a:r>
              <a:t>• Review Inbox: Central trust guard, not buried in settings</a:t>
            </a:r>
          </a:p>
          <a:p>
            <a:pPr>
              <a:defRPr sz="1300"/>
            </a:pPr>
            <a:r>
              <a:t>• Result: Ledger you believe in</a:t>
            </a:r>
          </a:p>
          <a:p>
            <a:pPr>
              <a:defRPr sz="1300"/>
            </a:pPr>
            <a:r>
              <a:t>• Visual: Review Inbox flow diagram</a:t>
            </a:r>
          </a:p>
        </p:txBody>
      </p:sp>
      <p:pic>
        <p:nvPicPr>
          <p:cNvPr id="5" name="Picture 4" descr="diagram_dupl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Wow Moment #4 — Proactive Budget Pacing &amp;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Warned Before You Overspend. Not After.</a:t>
            </a:r>
          </a:p>
          <a:p>
            <a:pPr>
              <a:defRPr sz="1300"/>
            </a:pPr>
            <a:r>
              <a:t>• Calculation: projected = (spent so far / days elapsed) * days in month</a:t>
            </a:r>
          </a:p>
          <a:p>
            <a:pPr>
              <a:defRPr sz="1300"/>
            </a:pPr>
            <a:r>
              <a:t>• UI:</a:t>
            </a:r>
          </a:p>
          <a:p>
            <a:pPr>
              <a:defRPr sz="1300"/>
            </a:pPr>
            <a:r>
              <a:t>• Amber at 80% threshold, Red &gt;100%</a:t>
            </a:r>
          </a:p>
          <a:p>
            <a:pPr>
              <a:defRPr sz="1300"/>
            </a:pPr>
            <a:r>
              <a:t>• Banner: "At this pace you'll spend ₹X on &lt;Category&gt; — ₹Y over budget. Cap at ₹Z/day"</a:t>
            </a:r>
          </a:p>
          <a:p>
            <a:pPr>
              <a:defRPr sz="1300"/>
            </a:pPr>
            <a:r>
              <a:t>• Daily target: ₹X/day left</a:t>
            </a:r>
          </a:p>
          <a:p>
            <a:pPr>
              <a:defRPr sz="1300"/>
            </a:pPr>
            <a:r>
              <a:t>• Suggested limits based on 3-month average</a:t>
            </a:r>
          </a:p>
          <a:p>
            <a:pPr>
              <a:defRPr sz="1300"/>
            </a:pPr>
            <a:r>
              <a:t>• Difference vs others: Client-side compute, no extra API call, appears above the fold</a:t>
            </a:r>
          </a:p>
          <a:p>
            <a:pPr>
              <a:defRPr sz="1300"/>
            </a:pPr>
            <a:r>
              <a:t>• Visual: pacing chart / forecast</a:t>
            </a:r>
          </a:p>
        </p:txBody>
      </p:sp>
      <p:pic>
        <p:nvPicPr>
          <p:cNvPr id="5" name="Picture 4" descr="chart_p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Wow Moment #5 — AI Coach Insight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Not a Rearview Pie Chart. A Forward-Looking Coach.</a:t>
            </a:r>
          </a:p>
          <a:p>
            <a:pPr>
              <a:defRPr sz="1300"/>
            </a:pPr>
            <a:r>
              <a:t>• Types:</a:t>
            </a:r>
          </a:p>
          <a:p>
            <a:pPr>
              <a:defRPr sz="1300"/>
            </a:pPr>
            <a:r>
              <a:t>• Monthly Forecast &amp; Pace Digest</a:t>
            </a:r>
          </a:p>
          <a:p>
            <a:pPr>
              <a:defRPr sz="1300"/>
            </a:pPr>
            <a:r>
              <a:t>• Top Movers: Largest MoM increases</a:t>
            </a:r>
          </a:p>
          <a:p>
            <a:pPr>
              <a:defRPr sz="1300"/>
            </a:pPr>
            <a:r>
              <a:t>• Subscription Creep Detector: Recurring charges across consecutive months</a:t>
            </a:r>
          </a:p>
          <a:p>
            <a:pPr>
              <a:defRPr sz="1300"/>
            </a:pPr>
            <a:r>
              <a:t>• Streaks &amp; Anomalies</a:t>
            </a:r>
          </a:p>
          <a:p>
            <a:pPr>
              <a:defRPr sz="1300"/>
            </a:pPr>
            <a:r>
              <a:t>• Generated by: generate-insights Edge Function + payload JSON</a:t>
            </a:r>
          </a:p>
          <a:p>
            <a:pPr>
              <a:defRPr sz="1300"/>
            </a:pPr>
            <a:r>
              <a:t>• Example: "Swiggy spend up 62% MoM — 12 orders vs 7 last month"</a:t>
            </a:r>
          </a:p>
          <a:p>
            <a:pPr>
              <a:defRPr sz="1300"/>
            </a:pPr>
            <a:r>
              <a:t>• Visual: insight cards mock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Product Experience — Dashboard That Feels Like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Numbers Are The Loudest Thing on Screen.</a:t>
            </a:r>
          </a:p>
          <a:p>
            <a:pPr>
              <a:defRPr sz="1300"/>
            </a:pPr>
            <a:r>
              <a:t>• Components:</a:t>
            </a:r>
          </a:p>
          <a:p>
            <a:pPr>
              <a:defRPr sz="1300"/>
            </a:pPr>
            <a:r>
              <a:t>• Month totals: Income vs Expense vs Balance</a:t>
            </a:r>
          </a:p>
          <a:p>
            <a:pPr>
              <a:defRPr sz="1300"/>
            </a:pPr>
            <a:r>
              <a:t>• Interactive Recharts donut — tap slice filters ledger history instantly</a:t>
            </a:r>
          </a:p>
          <a:p>
            <a:pPr>
              <a:defRPr sz="1300"/>
            </a:pPr>
            <a:r>
              <a:t>• Recent transactions with merchant, category icon, confidence</a:t>
            </a:r>
          </a:p>
          <a:p>
            <a:pPr>
              <a:defRPr sz="1300"/>
            </a:pPr>
            <a:r>
              <a:t>• Wallets: Cash, Bank, UPI Wallet, Credit Card with opening balances</a:t>
            </a:r>
          </a:p>
          <a:p>
            <a:pPr>
              <a:defRPr sz="1300"/>
            </a:pPr>
            <a:r>
              <a:t>• Multi-select bulk recategorize/delete, CSV export</a:t>
            </a:r>
          </a:p>
          <a:p>
            <a:pPr>
              <a:defRPr sz="1300"/>
            </a:pPr>
            <a:r>
              <a:t>• Design System: #FAFAF8 paper, #18181B ink, #0F766E teal accent, #DC2626 expense, #059669 income, Inter font, rounded-xl soft shadow, tabular-nums</a:t>
            </a:r>
          </a:p>
          <a:p>
            <a:pPr>
              <a:defRPr sz="1300"/>
            </a:pPr>
            <a:r>
              <a:t>• Mobile-first 390px, thumb-reach, 44px tap targets, skeleton loaders, empty states</a:t>
            </a:r>
          </a:p>
          <a:p>
            <a:pPr>
              <a:defRPr sz="1300"/>
            </a:pPr>
            <a:r>
              <a:t>• Visual: dashboard screenshot / mockup</a:t>
            </a:r>
          </a:p>
        </p:txBody>
      </p:sp>
      <p:pic>
        <p:nvPicPr>
          <p:cNvPr id="5" name="Picture 4" descr="char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Tech Architecture — Secure, Model-Agnostic, Offline-First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LLM Key Never Touches Frontend. 100% Functional Anywhere.</a:t>
            </a:r>
          </a:p>
          <a:p>
            <a:pPr>
              <a:defRPr sz="1300"/>
            </a:pPr>
            <a:r>
              <a:t>• Stack:</a:t>
            </a:r>
          </a:p>
          <a:p>
            <a:pPr>
              <a:defRPr sz="1300"/>
            </a:pPr>
            <a:r>
              <a:t>• Frontend: React 18, TypeScript, Vite, Tailwind, Lucide, Recharts, date-fns, Confetti</a:t>
            </a:r>
          </a:p>
          <a:p>
            <a:pPr>
              <a:defRPr sz="1300"/>
            </a:pPr>
            <a:r>
              <a:t>• Backend: Supabase Postgres + RLS (user_id = auth.uid()) on all tables, Auth, Edge Functions</a:t>
            </a:r>
          </a:p>
          <a:p>
            <a:pPr>
              <a:defRPr sz="1300"/>
            </a:pPr>
            <a:r>
              <a:t>• AI: Edge Functions: parse-transaction, detect-duplicates, generate-insights; callLLM wrapper Gemini 2.5-flash / gpt-4o-mini switch via env</a:t>
            </a:r>
          </a:p>
          <a:p>
            <a:pPr>
              <a:defRPr sz="1300"/>
            </a:pPr>
            <a:r>
              <a:t>• Fallback: High-fidelity offline client rule engine → works out-of-box, no keys</a:t>
            </a:r>
          </a:p>
          <a:p>
            <a:pPr>
              <a:defRPr sz="1300"/>
            </a:pPr>
            <a:r>
              <a:t>• Schema highlights: transactions amount always positive, kind carries direction, fingerprint, status active/merged/dismissed</a:t>
            </a:r>
          </a:p>
          <a:p>
            <a:pPr>
              <a:defRPr sz="1300"/>
            </a:pPr>
            <a:r>
              <a:t>• Visual: architecture diagram</a:t>
            </a:r>
          </a:p>
        </p:txBody>
      </p:sp>
      <p:pic>
        <p:nvPicPr>
          <p:cNvPr id="5" name="Picture 4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Why Trustworthy — Data Integrity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We Chose Trustworthy Ledger Over Unreliable Feed.</a:t>
            </a:r>
          </a:p>
          <a:p>
            <a:pPr>
              <a:defRPr sz="1300"/>
            </a:pPr>
            <a:r>
              <a:t>• Rules:</a:t>
            </a:r>
          </a:p>
          <a:p>
            <a:pPr>
              <a:defRPr sz="1300"/>
            </a:pPr>
            <a:r>
              <a:t>• Amounts always positive, direction via kind (expense/income)</a:t>
            </a:r>
          </a:p>
          <a:p>
            <a:pPr>
              <a:defRPr sz="1300"/>
            </a:pPr>
            <a:r>
              <a:t>• Credit card repayment = expense, never income (fixes competitor bug)</a:t>
            </a:r>
          </a:p>
          <a:p>
            <a:pPr>
              <a:defRPr sz="1300"/>
            </a:pPr>
            <a:r>
              <a:t>• RLS on all tables, validation layer repairs single field not whole result</a:t>
            </a:r>
          </a:p>
          <a:p>
            <a:pPr>
              <a:defRPr sz="1300"/>
            </a:pPr>
            <a:r>
              <a:t>• Offline-first, degrades gracefully: if Edge Function fails → manual save still works</a:t>
            </a:r>
          </a:p>
          <a:p>
            <a:pPr>
              <a:defRPr sz="1300"/>
            </a:pPr>
            <a:r>
              <a:t>• Q&amp;A Ready:</a:t>
            </a:r>
          </a:p>
          <a:p>
            <a:pPr>
              <a:defRPr sz="1300"/>
            </a:pPr>
            <a:r>
              <a:t>• Why no bank sync? Top cause of failure, can't be reliable in 3 days. CSV covers bulk.</a:t>
            </a:r>
          </a:p>
          <a:p>
            <a:pPr>
              <a:defRPr sz="1300"/>
            </a:pPr>
            <a:r>
              <a:t>• What stops LLM getting categories wrong? Deterministic rule cache → LLM → confidence → permanent rule learning</a:t>
            </a:r>
          </a:p>
          <a:p>
            <a:pPr>
              <a:defRPr sz="1300"/>
            </a:pPr>
            <a:r>
              <a:t>• What's defensible? category_rules table = compounding switching cost</a:t>
            </a:r>
          </a:p>
          <a:p>
            <a:pPr>
              <a:defRPr sz="1300"/>
            </a:pPr>
            <a:r>
              <a:t>• Visual: trust shield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Differentiation — ClearSpend vs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Not Just Another Tracker. A Ledger That Learns and Warns.</a:t>
            </a:r>
          </a:p>
          <a:p>
            <a:pPr>
              <a:defRPr sz="1300"/>
            </a:pPr>
            <a:r>
              <a:t>• Matrix (5 columns):</a:t>
            </a:r>
          </a:p>
          <a:p>
            <a:pPr>
              <a:defRPr sz="1300"/>
            </a:pPr>
            <a:r>
              <a:t>• Feature: One-line NL add, Indian shorthand 2k, Self-learning rules, Duplicate guard, Proactive pace forecast, Confidence badges, Offline-first, Retroactive apply, Subscription creep, CSV + Bulk</a:t>
            </a:r>
          </a:p>
          <a:p>
            <a:pPr>
              <a:defRPr sz="1300"/>
            </a:pPr>
            <a:r>
              <a:t>• ClearSpend: Yes all</a:t>
            </a:r>
          </a:p>
          <a:p>
            <a:pPr>
              <a:defRPr sz="1300"/>
            </a:pPr>
            <a:r>
              <a:t>• Spendee: No / Partial</a:t>
            </a:r>
          </a:p>
          <a:p>
            <a:pPr>
              <a:defRPr sz="1300"/>
            </a:pPr>
            <a:r>
              <a:t>• YNAB: No</a:t>
            </a:r>
          </a:p>
          <a:p>
            <a:pPr>
              <a:defRPr sz="1300"/>
            </a:pPr>
            <a:r>
              <a:t>• Walnut: Partial / No</a:t>
            </a:r>
          </a:p>
          <a:p>
            <a:pPr>
              <a:defRPr sz="1300"/>
            </a:pPr>
            <a:r>
              <a:t>• Moat Summary: Learning loop + Trust guard + Proactive coaching</a:t>
            </a:r>
          </a:p>
          <a:p>
            <a:pPr>
              <a:defRPr sz="1300"/>
            </a:pPr>
            <a:r>
              <a:t>• Visual: comparison table graphic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 &amp; Roadmap — India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From Hackathon MVP to Family Finance OS</a:t>
            </a:r>
          </a:p>
          <a:p>
            <a:pPr>
              <a:defRPr sz="1300"/>
            </a:pPr>
            <a:r>
              <a:t>• Monetization:</a:t>
            </a:r>
          </a:p>
          <a:p>
            <a:pPr>
              <a:defRPr sz="1300"/>
            </a:pPr>
            <a:r>
              <a:t>• Freemium: Free 200 transactions/month, Pro ₹199/month or ₹999/year</a:t>
            </a:r>
          </a:p>
          <a:p>
            <a:pPr>
              <a:defRPr sz="1300"/>
            </a:pPr>
            <a:r>
              <a:t>• Pro: UPI SMS auto-capture, shared wallets (family/couple), advanced insights, export</a:t>
            </a:r>
          </a:p>
          <a:p>
            <a:pPr>
              <a:defRPr sz="1300"/>
            </a:pPr>
            <a:r>
              <a:t>• B2B: Expense management for startups SMEs</a:t>
            </a:r>
          </a:p>
          <a:p>
            <a:pPr>
              <a:defRPr sz="1300"/>
            </a:pPr>
            <a:r>
              <a:t>• Roadmap:</a:t>
            </a:r>
          </a:p>
          <a:p>
            <a:pPr>
              <a:defRPr sz="1300"/>
            </a:pPr>
            <a:r>
              <a:t>• Next 30 days: UPI SMS parser (on-device), shared wallets for families, Hindi + Hinglish NL</a:t>
            </a:r>
          </a:p>
          <a:p>
            <a:pPr>
              <a:defRPr sz="1300"/>
            </a:pPr>
            <a:r>
              <a:t>• Next 90 days: Receipt OCR, voice add, goal-based budgeting</a:t>
            </a:r>
          </a:p>
          <a:p>
            <a:pPr>
              <a:defRPr sz="1300"/>
            </a:pPr>
            <a:r>
              <a:t>• Next 180 days: Investment tracking, bill reminders</a:t>
            </a:r>
          </a:p>
          <a:p>
            <a:pPr>
              <a:defRPr sz="1300"/>
            </a:pPr>
            <a:r>
              <a:t>• Market: 900M UPI users, 65M salaried filing ITR, ₹5T personal finance app TAM</a:t>
            </a:r>
          </a:p>
          <a:p>
            <a:pPr>
              <a:defRPr sz="1300"/>
            </a:pPr>
            <a:r>
              <a:t>• Visual: roadmap timeline</a:t>
            </a:r>
          </a:p>
        </p:txBody>
      </p:sp>
      <p:pic>
        <p:nvPicPr>
          <p:cNvPr id="5" name="Picture 4" descr="diagram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Traction — Built, Shipped, Demo-Ready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Not a Mockup. Live on Vercel With One-Click Demo.</a:t>
            </a:r>
          </a:p>
          <a:p>
            <a:pPr>
              <a:defRPr sz="1300"/>
            </a:pPr>
            <a:r>
              <a:t>• Metrics:</a:t>
            </a:r>
          </a:p>
          <a:p>
            <a:pPr>
              <a:defRPr sz="1300"/>
            </a:pPr>
            <a:r>
              <a:t>• 40+ seeded realistic transactions across 2 months (Food, Rent, Transport, UPI)</a:t>
            </a:r>
          </a:p>
          <a:p>
            <a:pPr>
              <a:defRPr sz="1300"/>
            </a:pPr>
            <a:r>
              <a:t>• 1 deliberate duplicate planted for Review Inbox demo</a:t>
            </a:r>
          </a:p>
          <a:p>
            <a:pPr>
              <a:defRPr sz="1300"/>
            </a:pPr>
            <a:r>
              <a:t>• Insights pre-generated (no live API lag risk)</a:t>
            </a:r>
          </a:p>
          <a:p>
            <a:pPr>
              <a:defRPr sz="1300"/>
            </a:pPr>
            <a:r>
              <a:t>• 5 phrasings tested: 2k rent, got 50000 salary, 380 zomato etc.</a:t>
            </a:r>
          </a:p>
          <a:p>
            <a:pPr>
              <a:defRPr sz="1300"/>
            </a:pPr>
            <a:r>
              <a:t>• Fresh incognito signup works end-to-end</a:t>
            </a:r>
          </a:p>
          <a:p>
            <a:pPr>
              <a:defRPr sz="1300"/>
            </a:pPr>
            <a:r>
              <a:t>• Links:</a:t>
            </a:r>
          </a:p>
          <a:p>
            <a:pPr>
              <a:defRPr sz="1300"/>
            </a:pPr>
            <a:r>
              <a:t>• Live: clearspend-ai-expense-tracker.vercel.app</a:t>
            </a:r>
          </a:p>
          <a:p>
            <a:pPr>
              <a:defRPr sz="1300"/>
            </a:pPr>
            <a:r>
              <a:t>• GitHub: github.com/sreetejlakkam/ClearSpend-Expense-Tracker-Outskill</a:t>
            </a:r>
          </a:p>
          <a:p>
            <a:pPr>
              <a:defRPr sz="1300"/>
            </a:pPr>
            <a:r>
              <a:t>• Visual: traction / demo screen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Build Story — 3-Day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3 Days. One Product. Zero Excuses.</a:t>
            </a:r>
          </a:p>
          <a:p>
            <a:pPr>
              <a:defRPr sz="1300"/>
            </a:pPr>
            <a:r>
              <a:t>• Order:</a:t>
            </a:r>
          </a:p>
          <a:p>
            <a:pPr>
              <a:defRPr sz="1300"/>
            </a:pPr>
            <a:r>
              <a:t>• Principles: Small commits, working main, handle every failure state, mobile-first</a:t>
            </a:r>
          </a:p>
          <a:p>
            <a:pPr>
              <a:defRPr sz="1300"/>
            </a:pPr>
            <a:r>
              <a:t>• Visual: build timeline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Demo Script — 3 Minutes to Wow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How We Win Demo Day in 180 Seconds</a:t>
            </a:r>
          </a:p>
          <a:p>
            <a:pPr>
              <a:defRPr sz="1300"/>
            </a:pPr>
            <a:r>
              <a:t>• Script:</a:t>
            </a:r>
          </a:p>
          <a:p>
            <a:pPr>
              <a:defRPr sz="1300"/>
            </a:pPr>
            <a:r>
              <a:t>• Problem 20s: "Everyone downloads, almost everyone quits... bank feeds produce duplicates, card payments as income. Once you stop trusting number, you stop opening app."</a:t>
            </a:r>
          </a:p>
          <a:p>
            <a:pPr>
              <a:defRPr sz="1300"/>
            </a:pPr>
            <a:r>
              <a:t>• Solution 15s: "ClearSpend. One-line logging, ledger repairs itself, warns before month goes wrong."</a:t>
            </a:r>
          </a:p>
          <a:p>
            <a:pPr>
              <a:defRPr sz="1300"/>
            </a:pPr>
            <a:r>
              <a:t>• Live 90s: Type 380 zomato lunch → parsed; 2k rent yesterday → shorthand+date; correct category → Learned toast + retro apply; Review Inbox → Merge duplicate; Dashboard → amber forecast card "At this pace you'll be ₹4,200 over"</a:t>
            </a:r>
          </a:p>
          <a:p>
            <a:pPr>
              <a:defRPr sz="1300"/>
            </a:pPr>
            <a:r>
              <a:t>• Close 15s: "Next: UPI SMS auto-capture + shared wallets for families. We skipped bank aggregation deliberately — trustworthy ledger &gt; unreliable feed."</a:t>
            </a:r>
          </a:p>
          <a:p>
            <a:pPr>
              <a:defRPr sz="1300"/>
            </a:pPr>
            <a:r>
              <a:t>• Visual: stopwatch / 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Closing — Try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Headline: Log Spending in One Line. Trust The Numbers.</a:t>
            </a:r>
          </a:p>
          <a:p>
            <a:pPr>
              <a:defRPr sz="1300"/>
            </a:pPr>
            <a:r>
              <a:t>• CTA:</a:t>
            </a:r>
          </a:p>
          <a:p>
            <a:pPr>
              <a:defRPr sz="1300"/>
            </a:pPr>
            <a:r>
              <a:t>• Scan QR → Live App</a:t>
            </a:r>
          </a:p>
          <a:p>
            <a:pPr>
              <a:defRPr sz="1300"/>
            </a:pPr>
            <a:r>
              <a:t>• GitHub Repo + README + Build Playbook</a:t>
            </a:r>
          </a:p>
          <a:p>
            <a:pPr>
              <a:defRPr sz="1300"/>
            </a:pPr>
            <a:r>
              <a:t>• One-Click Demo Mode button</a:t>
            </a:r>
          </a:p>
          <a:p>
            <a:pPr>
              <a:defRPr sz="1300"/>
            </a:pPr>
            <a:r>
              <a:t>• Tagline: Built with ❤️ for financial wellness. Made for India.</a:t>
            </a:r>
          </a:p>
          <a:p>
            <a:pPr>
              <a:defRPr sz="1300"/>
            </a:pPr>
            <a:r>
              <a:t>• Team: Sreetej Lakkam + Outskill Hackathon</a:t>
            </a:r>
          </a:p>
          <a:p>
            <a:pPr>
              <a:defRPr sz="1300"/>
            </a:pPr>
            <a:r>
              <a:t>• Footer: ClearSpend — AI Expense Tracker &amp; Money Coach | MIT License</a:t>
            </a:r>
          </a:p>
          <a:p>
            <a:pPr>
              <a:defRPr sz="1300"/>
            </a:pPr>
            <a:r>
              <a:t>• Visual: closing hero with confetti / celebration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